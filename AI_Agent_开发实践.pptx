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开发实践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从大模型到有行动力的智能体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297680"/>
            <a:ext cx="201168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部门技术分享  · 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0C9B1">
              <a:alpha val="12000"/>
            </a:srgbClr>
          </a:solidFill>
          <a:ln w="12700">
            <a:solidFill>
              <a:srgbClr val="00C9B1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2286000"/>
            <a:ext cx="2011680" cy="2011680"/>
          </a:xfrm>
          <a:prstGeom prst="ellipse">
            <a:avLst/>
          </a:prstGeom>
          <a:solidFill>
            <a:srgbClr val="3A86FF">
              <a:alpha val="15000"/>
            </a:srgbClr>
          </a:solidFill>
          <a:ln w="12700">
            <a:solidFill>
              <a:srgbClr val="3A86FF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C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  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7132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54864" cy="7132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463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 Agent？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801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大模型的能力边界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114800" cy="7132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54864" cy="7132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630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8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13248" y="1463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— 行动力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801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 AI 装上手脚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7132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86000"/>
            <a:ext cx="54864" cy="7132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31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4128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记忆管理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670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解决无状态对话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14800" cy="7132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286000"/>
            <a:ext cx="54864" cy="7132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331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8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13248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推理模式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13248" y="2670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 + 行动的循环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4114800" cy="7132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54680"/>
            <a:ext cx="54864" cy="7132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004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24128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协议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538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的标准化插座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4114800" cy="7132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154680"/>
            <a:ext cx="54864" cy="7132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2004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8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13248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开发框架选型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3538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 / 原生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4114800" cy="7132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023360"/>
            <a:ext cx="54864" cy="7132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069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24128" y="4069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24128" y="4407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复杂任务的分工协作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4023360"/>
            <a:ext cx="4114800" cy="7132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023360"/>
            <a:ext cx="54864" cy="7132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069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8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413248" y="4069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 &amp; 监控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13248" y="4407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追踪与评估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66928" cy="566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468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56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为什么需要 Agent？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6583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大模型的能力边界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3840480" cy="329184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大模型（LLM）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文本输入 → 文本输出的预测模型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无法主动感知外部世界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无法写文件、查数据库、发请求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只能「说」，不能「做」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2834640"/>
            <a:ext cx="64008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25603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B1"/>
                </a:solidFill>
              </a:rPr>
              <a:t>＋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160520" y="2971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1280160"/>
            <a:ext cx="3749040" cy="3291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1280160"/>
            <a:ext cx="54864" cy="32918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6636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调用工具主动获取信息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6636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读写文件、执行代码、搜索网络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6636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多轮规划完成复杂任务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6636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「思考」＋「行动」的闭环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LLM  +  工具  +  记忆  +  规划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66928" cy="566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468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56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Call — 给 AI 装上手脚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6583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工具调用是 Agent 行动力的基础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146304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1874520"/>
            <a:ext cx="274320" cy="45720"/>
          </a:xfrm>
          <a:prstGeom prst="rect">
            <a:avLst/>
          </a:prstGeom>
          <a:solidFill>
            <a:srgbClr val="6B8BA4"/>
          </a:solidFill>
          <a:ln w="12700">
            <a:solidFill>
              <a:srgbClr val="6B8B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755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BA4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1234440"/>
            <a:ext cx="146304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65960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推理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决定调用工具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874520"/>
            <a:ext cx="274320" cy="45720"/>
          </a:xfrm>
          <a:prstGeom prst="rect">
            <a:avLst/>
          </a:prstGeom>
          <a:solidFill>
            <a:srgbClr val="6B8BA4"/>
          </a:solidFill>
          <a:ln w="12700">
            <a:solidFill>
              <a:srgbClr val="6B8B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755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BA4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03320" y="1234440"/>
            <a:ext cx="146304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03320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执行工具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获取结果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66360" y="1874520"/>
            <a:ext cx="274320" cy="45720"/>
          </a:xfrm>
          <a:prstGeom prst="rect">
            <a:avLst/>
          </a:prstGeom>
          <a:solidFill>
            <a:srgbClr val="6B8BA4"/>
          </a:solidFill>
          <a:ln w="12700">
            <a:solidFill>
              <a:srgbClr val="6B8B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755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BA4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0680" y="1234440"/>
            <a:ext cx="146304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40680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综合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生成回答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1874520"/>
            <a:ext cx="274320" cy="45720"/>
          </a:xfrm>
          <a:prstGeom prst="rect">
            <a:avLst/>
          </a:prstGeom>
          <a:solidFill>
            <a:srgbClr val="6B8BA4"/>
          </a:solidFill>
          <a:ln w="12700">
            <a:solidFill>
              <a:srgbClr val="6B8B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755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BA4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78040" y="1234440"/>
            <a:ext cx="146304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1325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178040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输出结果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常见工具类型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3291840"/>
            <a:ext cx="269748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信息获取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37947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网络搜索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40507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读取文件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3068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查询数据库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45628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调用 API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91840" y="3291840"/>
            <a:ext cx="269748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执行操作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29000" y="37947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写入文件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429000" y="40507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执行 Bash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429000" y="43068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发送请求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429000" y="45628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代码运行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17920" y="3291840"/>
            <a:ext cx="269748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系统集成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55080" y="37947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发送邮件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355080" y="40507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操作日历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55080" y="43068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触发流水线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355080" y="45628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通知推送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工具定义质量直接决定 LLM 调用准确率 — 函数名和参数描述要足够清晰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66928" cy="566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468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56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— 记忆管理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6583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解决大模型无状态对话的核心挑战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8412480" cy="658368"/>
          </a:xfrm>
          <a:prstGeom prst="rect">
            <a:avLst/>
          </a:prstGeom>
          <a:solidFill>
            <a:srgbClr val="1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根本原因：每次 LLM 请求都是独立的，无会话状态 — 随着对话进行，历史上下文迅速耗尽 Context Window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1965960" cy="2651760"/>
          </a:xfrm>
          <a:prstGeom prst="rect">
            <a:avLst/>
          </a:prstGeom>
          <a:solidFill>
            <a:srgbClr val="1B2A3B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84832"/>
            <a:ext cx="1965960" cy="54864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🪟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滑动窗口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1638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只保留最近 N 轮对话，超出部分丢弃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783080" cy="54864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适用：短任务 / 轻量交互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14600" y="2084832"/>
            <a:ext cx="1965960" cy="2651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2084832"/>
            <a:ext cx="196596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🗜️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606040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记忆压缩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31638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LLM 将历史对话总结成摘要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3886200"/>
            <a:ext cx="1783080" cy="54864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977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适用：长对话 / 节省 Token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084832"/>
            <a:ext cx="1965960" cy="265176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084832"/>
            <a:ext cx="196596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754880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持久化存储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31638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关键信息存入向量库或数据库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886200"/>
            <a:ext cx="1783080" cy="54864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977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适用：跨会话记忆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12280" y="2084832"/>
            <a:ext cx="1965960" cy="2651760"/>
          </a:xfrm>
          <a:prstGeom prst="rect">
            <a:avLst/>
          </a:prstGeom>
          <a:solidFill>
            <a:srgbClr val="1B2A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2084832"/>
            <a:ext cx="19659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🧱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903720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分层记忆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31638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工作记忆 + 长期记忆分层管理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3886200"/>
            <a:ext cx="1783080" cy="54864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3977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适用：复杂 Agent 系统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66928" cy="566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468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56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推理模式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6583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Acting — 当前主流 Agent 推理范式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Reasoning + Acting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来自 2022 年论文，已成工业标准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1645920" cy="502920"/>
          </a:xfrm>
          <a:prstGeom prst="rect">
            <a:avLst/>
          </a:prstGeom>
          <a:solidFill>
            <a:srgbClr val="3A86FF">
              <a:alpha val="85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128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  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BA4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16352"/>
            <a:ext cx="1645920" cy="502920"/>
          </a:xfrm>
          <a:prstGeom prst="rect">
            <a:avLst/>
          </a:prstGeom>
          <a:solidFill>
            <a:srgbClr val="00C9B1">
              <a:alpha val="8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529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 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BA4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1645920" cy="502920"/>
          </a:xfrm>
          <a:prstGeom prst="rect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930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  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循环直到任务完成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261872"/>
            <a:ext cx="4114800" cy="3566160"/>
          </a:xfrm>
          <a:prstGeom prst="rect">
            <a:avLst/>
          </a:prstGeom>
          <a:solidFill>
            <a:srgbClr val="080F1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实例演示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Thought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36208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用户问 AAPL 股价，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需要调用搜索工具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286000"/>
            <a:ext cx="3840480" cy="18288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505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36208" y="24780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web_search(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"AAPL 今日股价")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2980944"/>
            <a:ext cx="3840480" cy="18288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Observation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208" y="3172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返回结果：$189.3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675888"/>
            <a:ext cx="3840480" cy="18288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8953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Thought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36208" y="3867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已获得数据，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可以回答用户了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66928" cy="566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468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56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— Agent 的标准化插座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6583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841248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MCP 之于 AI 工具，就像 USB 之于外设 — 统一接口，即插即用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2560320" cy="16459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（MCP Client）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  标准协议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3163824"/>
            <a:ext cx="137160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331720"/>
            <a:ext cx="19202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404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2331720"/>
            <a:ext cx="19202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404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246120"/>
            <a:ext cx="19202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3192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3246120"/>
            <a:ext cx="19202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3192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4622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一次集成，多框架复用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90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开放生态，已有大量开源 Server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Anthropic 提出，各大 LLM 厂商跟进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66928" cy="566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468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56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开发框架选型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6583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框架加速开发，但理解底层更重要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2743200" cy="3611880"/>
          </a:xfrm>
          <a:prstGeom prst="rect">
            <a:avLst/>
          </a:prstGeom>
          <a:solidFill>
            <a:srgbClr val="1B2A3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274320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原生实现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1463040" cy="274320"/>
          </a:xfrm>
          <a:prstGeom prst="rect">
            <a:avLst/>
          </a:prstGeom>
          <a:solidFill>
            <a:srgbClr val="6B7280">
              <a:alpha val="75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优势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完全可控，无依赖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性能最优，无额外开销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适合轻量 POC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注意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工具调度需手写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错误重试自行处理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743200" cy="36118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234440"/>
            <a:ext cx="27432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83280" y="1755648"/>
            <a:ext cx="1463040" cy="274320"/>
          </a:xfrm>
          <a:prstGeom prst="rect">
            <a:avLst/>
          </a:prstGeom>
          <a:solidFill>
            <a:srgbClr val="00C9B1">
              <a:alpha val="7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755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生态最丰富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优势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2423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Tool / Chain / Memory 标准抽象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现成集成最多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社区活跃，文档完善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注意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抽象层较厚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调试复杂度高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1234440"/>
            <a:ext cx="2743200" cy="3611880"/>
          </a:xfrm>
          <a:prstGeom prst="rect">
            <a:avLst/>
          </a:prstGeom>
          <a:solidFill>
            <a:srgbClr val="1B2A3B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1234440"/>
            <a:ext cx="2743200" cy="54864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9360" y="1755648"/>
            <a:ext cx="1463040" cy="274320"/>
          </a:xfrm>
          <a:prstGeom prst="rect">
            <a:avLst/>
          </a:prstGeom>
          <a:solidFill>
            <a:srgbClr val="3A86FF">
              <a:alpha val="75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55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流程控制最强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优势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2423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图结构定义工作流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支持循环与条件分支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多 Agent 协作原生支持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注意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学习曲线较陡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小任务略显重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建议：学习期用框架理解概念，生产环境按需评估是否引入框架复杂度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66928" cy="566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468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56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 Agent 协作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6583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复杂任务需要专业分工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8412480" cy="530352"/>
          </a:xfrm>
          <a:prstGeom prst="rect">
            <a:avLst/>
          </a:prstGeom>
          <a:solidFill>
            <a:srgbClr val="1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 Agent 瓶颈：上下文有限 · 单点推理易出错 · 难以并行 · 专业化不足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743200" cy="24688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 Agent 拆分并分配任务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 Agent 并行专项执行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76472"/>
            <a:ext cx="2560320" cy="54864"/>
          </a:xfrm>
          <a:prstGeom prst="rect">
            <a:avLst/>
          </a:prstGeom>
          <a:solidFill>
            <a:srgbClr val="00C9B1">
              <a:alpha val="40000"/>
            </a:srgbClr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58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最常用模式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920240"/>
            <a:ext cx="2743200" cy="2468880"/>
          </a:xfrm>
          <a:prstGeom prst="rect">
            <a:avLst/>
          </a:prstGeom>
          <a:solidFill>
            <a:srgbClr val="1B2A3B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993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83280" y="2606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串行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的输出作为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 的输入，依次流转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3776472"/>
            <a:ext cx="2560320" cy="54864"/>
          </a:xfrm>
          <a:prstGeom prst="rect">
            <a:avLst/>
          </a:prstGeom>
          <a:solidFill>
            <a:srgbClr val="3A86FF">
              <a:alpha val="40000"/>
            </a:srgbClr>
          </a:solidFill>
          <a:ln w="1270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858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数据处理流水线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2743200" cy="246888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993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09360" y="2606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竞争评审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独立生成方案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 Agent 选最优结果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3776472"/>
            <a:ext cx="2560320" cy="54864"/>
          </a:xfrm>
          <a:prstGeom prst="rect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858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高质量输出场景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62686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Agent 数量越多，调试与追踪难度越高 → 需要完善的可观测性方案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66928" cy="566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468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2560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可观测性 &amp; 监控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6583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的不确定性需要更强的追踪能力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2011680" cy="530352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350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261872"/>
            <a:ext cx="2926080" cy="530352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33502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Web 开发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1261872"/>
            <a:ext cx="3474720" cy="530352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133502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开发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201168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019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行为确定性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23160" y="1828800"/>
            <a:ext cx="292608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19019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固定业务逻辑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94960" y="1828800"/>
            <a:ext cx="347472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9019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推理过程不确定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395728"/>
            <a:ext cx="20116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4688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失败定位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423160" y="2395728"/>
            <a:ext cx="29260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24688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接口报错 + 日志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94960" y="2395728"/>
            <a:ext cx="347472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24688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需追踪完整推理链路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2962656"/>
            <a:ext cx="201168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0358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性能指标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423160" y="2962656"/>
            <a:ext cx="292608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32888" y="30358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接口耗时、错误率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394960" y="2962656"/>
            <a:ext cx="347472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3035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用量、推理质量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3529584"/>
            <a:ext cx="20116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6027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测试方式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423160" y="3529584"/>
            <a:ext cx="29260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32888" y="36027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 + e2e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394960" y="3529584"/>
            <a:ext cx="347472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4688" y="360273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评估集 + 人工标注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5760" y="4096512"/>
            <a:ext cx="201168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1696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监控工具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423160" y="4096512"/>
            <a:ext cx="292608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32888" y="416966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/ Sentry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394960" y="4096512"/>
            <a:ext cx="347472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04688" y="41696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/ Langsmith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0A2540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69087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推荐：LangFuse — 开源可自部署，支持 Trace 可视化 · Prompt 版本管理 · 在线 Eval 评估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C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5486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16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行动力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74320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80160"/>
            <a:ext cx="54864" cy="5486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16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持续性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74320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280160"/>
            <a:ext cx="54864" cy="548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316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推理范式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274320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965960"/>
            <a:ext cx="54864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002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标准化生态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1965960"/>
            <a:ext cx="274320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965960"/>
            <a:ext cx="54864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02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工程效率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965960"/>
            <a:ext cx="2743200" cy="548640"/>
          </a:xfrm>
          <a:prstGeom prst="rect">
            <a:avLst/>
          </a:prstGeom>
          <a:solidFill>
            <a:srgbClr val="1B2A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965960"/>
            <a:ext cx="54864" cy="5486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002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生产可信度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743200"/>
            <a:ext cx="4023360" cy="2194560"/>
          </a:xfrm>
          <a:prstGeom prst="rect">
            <a:avLst/>
          </a:prstGeom>
          <a:solidFill>
            <a:srgbClr val="1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当前挑战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可靠性低于传统软件，需大量 Eval 保障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长链路 Agent 成本高、延迟大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Prompt Injection &amp; 权限控制待完善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743200"/>
            <a:ext cx="4023360" cy="2194560"/>
          </a:xfrm>
          <a:prstGeom prst="rect">
            <a:avLst/>
          </a:prstGeom>
          <a:solidFill>
            <a:srgbClr val="0A1A0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未来方向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Agent + RAG 深度融合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端侧 Agent（手机 / 桌面）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Agent 成为软件研发基础设施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  ·  欢迎交流讨论 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开发实践</dc:title>
  <dc:subject>PptxGenJS Presentation</dc:subject>
  <dc:creator>PptxGenJS</dc:creator>
  <cp:lastModifiedBy>PptxGenJS</cp:lastModifiedBy>
  <cp:revision>1</cp:revision>
  <dcterms:created xsi:type="dcterms:W3CDTF">2026-04-22T14:05:03Z</dcterms:created>
  <dcterms:modified xsi:type="dcterms:W3CDTF">2026-04-22T14:05:03Z</dcterms:modified>
</cp:coreProperties>
</file>